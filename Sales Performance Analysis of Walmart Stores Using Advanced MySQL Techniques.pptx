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6E707-2570-32EA-389A-88EC6658DF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82FB51-D47D-F9A9-4922-43D866656F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A097-D035-F8B9-FF24-4B07C113F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F0F15-D4AB-49F5-819E-C987ACB8DC7D}" type="datetimeFigureOut">
              <a:rPr lang="en-IN" smtClean="0"/>
              <a:t>06-06-2025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3A7E0-F602-617E-5A45-FE4697ED0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CC3A0-6D6C-91A0-4727-97493716A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F0174-EAA0-43B9-BE47-6B30DE221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4613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E0E0C-69B2-9371-DC02-71F02C3E0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5DF60-6A6E-BEEB-B9D7-29E887F8F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C730C-0C0F-FAC1-AEDF-27A563AF7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F0F15-D4AB-49F5-819E-C987ACB8DC7D}" type="datetimeFigureOut">
              <a:rPr lang="en-IN" smtClean="0"/>
              <a:t>06-06-2025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59415-CAE6-F76E-DCBF-BB739EB60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63BC6-F0A7-E3C7-028B-10DBE6790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F0174-EAA0-43B9-BE47-6B30DE221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249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B48C9-AA0D-7090-7DFB-14EC586CF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44BA87-3EDD-4F66-EB33-3B43D59A3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DADBA-7C02-53E4-0507-87FCF98E1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F0F15-D4AB-49F5-819E-C987ACB8DC7D}" type="datetimeFigureOut">
              <a:rPr lang="en-IN" smtClean="0"/>
              <a:t>06-06-2025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FA28B-7405-7D4D-EAB4-3CEC6C754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D62D7-CC2F-1A1B-9543-675FF8491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F0174-EAA0-43B9-BE47-6B30DE221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644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4C685-89E0-7C80-867E-8FBBC6527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16A8C-3D61-3666-32D6-CCF46C7405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7EE888-F64E-3CEB-C01A-4AD9CB4049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9EF38C-D225-B137-2F0E-C7423D299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F0F15-D4AB-49F5-819E-C987ACB8DC7D}" type="datetimeFigureOut">
              <a:rPr lang="en-IN" smtClean="0"/>
              <a:t>06-06-2025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F8E26-4E78-0674-EFE2-47BA468D4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FF958C-5F05-D013-39B6-AB1F6FC48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F0174-EAA0-43B9-BE47-6B30DE221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9526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DD875-4199-E5B0-9EF7-91796FC90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597426-3D4C-9180-68D4-1D3AEF68D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AE82E8-817D-47F9-6629-6F40B2BF5A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29AADF-D6F9-0B6A-7012-E32B2755D6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E552E1-E0B6-A2E8-1605-831723410F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978600-4D1B-5C3D-8A07-193E89D59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F0F15-D4AB-49F5-819E-C987ACB8DC7D}" type="datetimeFigureOut">
              <a:rPr lang="en-IN" smtClean="0"/>
              <a:t>06-06-2025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8CCF7-D258-640A-8CB0-65BD60533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BE9F68-C45F-0892-AEE1-53AEBA603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F0174-EAA0-43B9-BE47-6B30DE221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4369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89DBE-6FD6-E8AE-9E17-9A5B65300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578E79-133D-6819-6CDB-09278E5EC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F0F15-D4AB-49F5-819E-C987ACB8DC7D}" type="datetimeFigureOut">
              <a:rPr lang="en-IN" smtClean="0"/>
              <a:t>06-06-2025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DDF70D-4886-D467-F734-1C408BACC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F593D7-3766-73BD-53BB-211BCD0A2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F0174-EAA0-43B9-BE47-6B30DE221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0609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3D3B1D-3770-8F95-57F9-2B43B6ADA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F0F15-D4AB-49F5-819E-C987ACB8DC7D}" type="datetimeFigureOut">
              <a:rPr lang="en-IN" smtClean="0"/>
              <a:t>06-06-2025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4E8644-4615-F6B9-F1CF-7534FAE85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41C615-536C-6FD3-A109-9E67B90F3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F0174-EAA0-43B9-BE47-6B30DE221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762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18DB0-8D1C-A4D5-45FC-A580CF1C0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67F7A-5D43-C754-9F90-EB81D70F0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A211DF-6A9D-CBEA-5D62-C83DD98819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14D631-AAA0-314A-2506-DF10BAC5E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F0F15-D4AB-49F5-819E-C987ACB8DC7D}" type="datetimeFigureOut">
              <a:rPr lang="en-IN" smtClean="0"/>
              <a:t>06-06-2025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2F9450-FC61-B35D-C58B-5B9F074E6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00690D-3552-F422-64BE-4ED4C6935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F0174-EAA0-43B9-BE47-6B30DE221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460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9C851-6629-740A-E422-168F3D92E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FDCFBE-8E05-643E-048A-287673199F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C2809A-60DC-2B04-3EBE-DEB29EC21A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299242-B3F4-CB2C-CCA6-DF149AC63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F0F15-D4AB-49F5-819E-C987ACB8DC7D}" type="datetimeFigureOut">
              <a:rPr lang="en-IN" smtClean="0"/>
              <a:t>06-06-2025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AD4C65-06B6-3442-424A-404184919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93E459-C00C-9E58-149E-43322CA40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F0174-EAA0-43B9-BE47-6B30DE221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452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D6335-6A7D-A2C3-6276-F4B21ED0D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B7D556-C213-7FD6-9646-B962D32C55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88686-CC23-07FF-8B16-8B0A66D12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F0F15-D4AB-49F5-819E-C987ACB8DC7D}" type="datetimeFigureOut">
              <a:rPr lang="en-IN" smtClean="0"/>
              <a:t>06-06-2025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4DD27-8933-1F2A-CFC9-2B3D9091F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9A3AE-FD98-B2D2-EED4-2EA3B59B7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F0174-EAA0-43B9-BE47-6B30DE221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881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A6C421-9116-A2B7-18D9-D43CBE87FC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1AF76D-DE30-80B1-FD3C-B39A9737C3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538B9-65ED-9A86-4BC0-F6EC0D1F7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F0F15-D4AB-49F5-819E-C987ACB8DC7D}" type="datetimeFigureOut">
              <a:rPr lang="en-IN" smtClean="0"/>
              <a:t>06-06-2025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918AC-BDDF-8E13-5C71-2D5032708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F9CB5-CB43-39F2-3EBF-5A32CFF9C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F0174-EAA0-43B9-BE47-6B30DE221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29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87E5D1-0384-7209-71C2-434A29891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8BB7E-9ACF-CE54-C23D-F69903A26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9D54B-865C-7119-0020-1E958C961C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DF0F15-D4AB-49F5-819E-C987ACB8DC7D}" type="datetimeFigureOut">
              <a:rPr lang="en-IN" smtClean="0"/>
              <a:t>06-06-2025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679BA-7D90-2878-6D7B-200AE4BEC6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5AD0B-8088-C2DF-1AF1-E9B19B8EEA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2F0174-EAA0-43B9-BE47-6B30DE221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269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hxjY5jN56Uj7oov6owDkUJT6Q8Ckc0PU/view?usp=sharin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6B4A4-589B-C43B-B7CB-9C19EF2D21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650" y="157315"/>
            <a:ext cx="10078066" cy="825911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Task 1: Identifying the Top Branch by Sales Growth Rate</a:t>
            </a:r>
            <a:endParaRPr lang="en-IN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5DC5D5F-ABA0-617A-2B92-035BC61090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1618345"/>
              </p:ext>
            </p:extLst>
          </p:nvPr>
        </p:nvGraphicFramePr>
        <p:xfrm>
          <a:off x="363792" y="983226"/>
          <a:ext cx="7723241" cy="120991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480539">
                  <a:extLst>
                    <a:ext uri="{9D8B030D-6E8A-4147-A177-3AD203B41FA5}">
                      <a16:colId xmlns:a16="http://schemas.microsoft.com/office/drawing/2014/main" val="1269313178"/>
                    </a:ext>
                  </a:extLst>
                </a:gridCol>
                <a:gridCol w="2621351">
                  <a:extLst>
                    <a:ext uri="{9D8B030D-6E8A-4147-A177-3AD203B41FA5}">
                      <a16:colId xmlns:a16="http://schemas.microsoft.com/office/drawing/2014/main" val="36940977"/>
                    </a:ext>
                  </a:extLst>
                </a:gridCol>
                <a:gridCol w="2621351">
                  <a:extLst>
                    <a:ext uri="{9D8B030D-6E8A-4147-A177-3AD203B41FA5}">
                      <a16:colId xmlns:a16="http://schemas.microsoft.com/office/drawing/2014/main" val="2678714789"/>
                    </a:ext>
                  </a:extLst>
                </a:gridCol>
              </a:tblGrid>
              <a:tr h="604958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growth_rate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2230794"/>
                  </a:ext>
                </a:extLst>
              </a:tr>
              <a:tr h="604958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2019-03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26.12%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705042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9D6B0FE-7D5E-37BA-7F01-19814CFDD6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18630"/>
              </p:ext>
            </p:extLst>
          </p:nvPr>
        </p:nvGraphicFramePr>
        <p:xfrm>
          <a:off x="363792" y="2316291"/>
          <a:ext cx="5410200" cy="1600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3400">
                  <a:extLst>
                    <a:ext uri="{9D8B030D-6E8A-4147-A177-3AD203B41FA5}">
                      <a16:colId xmlns:a16="http://schemas.microsoft.com/office/drawing/2014/main" val="129429729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4187364225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42761167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branch</a:t>
                      </a:r>
                      <a:endParaRPr lang="en-IN" sz="1400" b="1" i="0" u="none" strike="noStrike" dirty="0">
                        <a:solidFill>
                          <a:srgbClr val="FFFFFF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month</a:t>
                      </a:r>
                      <a:endParaRPr lang="en-IN" sz="1400" b="1" i="0" u="none" strike="noStrike">
                        <a:solidFill>
                          <a:srgbClr val="FFFFFF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growth_rate</a:t>
                      </a:r>
                      <a:endParaRPr lang="en-IN" sz="1400" b="1" i="0" u="none" strike="noStrike">
                        <a:solidFill>
                          <a:srgbClr val="FFFFFF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6979383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2019-03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26%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7211775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2019-03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13%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1462738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2019-03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1%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229391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2019-02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-7%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847488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2019-02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-19%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3417038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2019-02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-23%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4027678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81FB4B8-3889-FCAC-E4A8-23570F56490B}"/>
              </a:ext>
            </a:extLst>
          </p:cNvPr>
          <p:cNvSpPr txBox="1"/>
          <p:nvPr/>
        </p:nvSpPr>
        <p:spPr>
          <a:xfrm>
            <a:off x="5968722" y="2316291"/>
            <a:ext cx="612949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SQL Query :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WITH MonthlySales AS (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SELECT branch, DATE_FORMAT(date, '%Y-%m') AS month, SUM(total) AS sales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FROM walmart_sales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GROUP BY branch, month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GrowthCalc AS (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SELECT branch, month, sales,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LAG(sales) OVER (PARTITION BY branch ORDER BY month) AS prev_month_sales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FROM MonthlySales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GrowthRates AS (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SELECT branch, month, sales, prev_month_sales,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ROUND(((sales - prev_month_sales) / prev_month_sales) * 100, 2) AS growth_rate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FROM GrowthCalc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WHERE prev_month_sales IS NOT NULL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SELECT branch, month, growth_rate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FROM GrowthRates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ORDER BY growth_rate DESC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LIMIT 1;</a:t>
            </a:r>
          </a:p>
          <a:p>
            <a:endParaRPr lang="en-IN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755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C3994-A45B-C273-A3AD-C9487CA79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991726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Task 2: Finding the Most Profitable Product Line for Each Branch</a:t>
            </a:r>
            <a:endParaRPr lang="en-IN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3D293747-E9B0-86DD-4C49-ABDCE2C009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8530799"/>
              </p:ext>
            </p:extLst>
          </p:nvPr>
        </p:nvGraphicFramePr>
        <p:xfrm>
          <a:off x="132735" y="991727"/>
          <a:ext cx="9795035" cy="165099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284795">
                  <a:extLst>
                    <a:ext uri="{9D8B030D-6E8A-4147-A177-3AD203B41FA5}">
                      <a16:colId xmlns:a16="http://schemas.microsoft.com/office/drawing/2014/main" val="3990289636"/>
                    </a:ext>
                  </a:extLst>
                </a:gridCol>
                <a:gridCol w="3255120">
                  <a:extLst>
                    <a:ext uri="{9D8B030D-6E8A-4147-A177-3AD203B41FA5}">
                      <a16:colId xmlns:a16="http://schemas.microsoft.com/office/drawing/2014/main" val="932850868"/>
                    </a:ext>
                  </a:extLst>
                </a:gridCol>
                <a:gridCol w="3255120">
                  <a:extLst>
                    <a:ext uri="{9D8B030D-6E8A-4147-A177-3AD203B41FA5}">
                      <a16:colId xmlns:a16="http://schemas.microsoft.com/office/drawing/2014/main" val="2772171229"/>
                    </a:ext>
                  </a:extLst>
                </a:gridCol>
              </a:tblGrid>
              <a:tr h="60297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most_profitable_product_line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total_profit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043977"/>
                  </a:ext>
                </a:extLst>
              </a:tr>
              <a:tr h="34934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Food and beverages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1131.78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979844"/>
                  </a:ext>
                </a:extLst>
              </a:tr>
              <a:tr h="349340">
                <a:tc>
                  <a:txBody>
                    <a:bodyPr/>
                    <a:lstStyle/>
                    <a:p>
                      <a:r>
                        <a:rPr lang="en-IN" sz="16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Home and lifestyle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1067.50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2550326"/>
                  </a:ext>
                </a:extLst>
              </a:tr>
              <a:tr h="349340">
                <a:tc>
                  <a:txBody>
                    <a:bodyPr/>
                    <a:lstStyle/>
                    <a:p>
                      <a:r>
                        <a:rPr lang="en-IN" sz="16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Sports and travel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951.88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589293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9E9D06F4-5A8F-B702-DD59-03C55C70CE59}"/>
              </a:ext>
            </a:extLst>
          </p:cNvPr>
          <p:cNvSpPr txBox="1"/>
          <p:nvPr/>
        </p:nvSpPr>
        <p:spPr>
          <a:xfrm>
            <a:off x="8259450" y="991726"/>
            <a:ext cx="3799815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-- Step 1: Calculate total profit for each product line in each branch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branch,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product_line,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SUM(gross_income) AS total_profit  -- gross_income = profit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FROM walmart_sales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GROUP BY branch, product_line;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-- Step 2: Find the most profitable product line per branch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WITH ProfitPerLine AS (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SELECT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branch,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product_line,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SUM(gross_income) AS total_profit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FROM walmart_sales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GROUP BY branch, product_line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RankedProfit AS (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SELECT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branch,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product_line,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total_profit,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RANK() OVER (PARTITION BY branch ORDER BY total_profit DESC) AS profit_rank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FROM ProfitPerLine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-- Step 3: Select only the top product line per branch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branch,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product_line AS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most_profitable_product_line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total_profit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FROM RankedProfit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WHERE profit_rank = 1;</a:t>
            </a:r>
          </a:p>
          <a:p>
            <a:endParaRPr lang="en-IN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986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4276F-BC3C-3C9A-2B64-E1348956F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274710" cy="100430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Task 3: Analyzing Customer Segmentation Based on Spending</a:t>
            </a:r>
            <a:endParaRPr lang="en-IN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AF5C78-200F-F17F-548A-0DDAF6D6BB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040" y="1300882"/>
            <a:ext cx="4479786" cy="261672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4C1664-DADD-2F24-2389-A33328DE4A49}"/>
              </a:ext>
            </a:extLst>
          </p:cNvPr>
          <p:cNvSpPr txBox="1"/>
          <p:nvPr/>
        </p:nvSpPr>
        <p:spPr>
          <a:xfrm>
            <a:off x="5201265" y="1140544"/>
            <a:ext cx="626314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SQL query: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WITH CustomerSpending AS (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SELECT customer id, SUM(total) AS total_spent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FROM walmart_sales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GROUP BY customer id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RankedSpending AS (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SELECT customer id, total_spent,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NTILE(3) OVER (ORDER BY total_spent DESC) AS spending_tier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FROM CustomerSpending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SELECT customer id, total_spent,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CASE WHEN spending_tier = 1 THEN 'High'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WHEN spending_tier = 2 THEN 'Medium'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ELSE 'Low' END AS spending_category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FROM RankedSpending;</a:t>
            </a:r>
          </a:p>
          <a:p>
            <a:endParaRPr lang="en-I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C10388-14F8-6813-FB84-C02280A646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040" y="4021394"/>
            <a:ext cx="4628308" cy="2753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953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F6998-0C04-AAB8-5424-A912BF185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26488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Task 4: Detecting Anomalies in Sales Transactions</a:t>
            </a:r>
            <a:endParaRPr lang="en-IN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CE51F6-C88E-96D9-5F3C-BF76C80841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30"/>
          <a:stretch>
            <a:fillRect/>
          </a:stretch>
        </p:blipFill>
        <p:spPr>
          <a:xfrm>
            <a:off x="163560" y="1091382"/>
            <a:ext cx="4502510" cy="291034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1BA2F7-A06E-07C5-B08A-1C455C7E7BA4}"/>
              </a:ext>
            </a:extLst>
          </p:cNvPr>
          <p:cNvSpPr txBox="1"/>
          <p:nvPr/>
        </p:nvSpPr>
        <p:spPr>
          <a:xfrm>
            <a:off x="5171768" y="1091382"/>
            <a:ext cx="5781367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SQL Query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WITH ProductStats AS (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SELECT product_line, AVG(total) AS avg_total, STDDEV(total) AS std_total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FROM walmart_sales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GROUP BY product_line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TransactionZScores AS (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SELECT invoice_id, product_line, total,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(total - avg_total) / std_total AS z_score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FROM walmart_sales JOIN ProductStats USING(product_line)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invoice_id, product_line, total, z_score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TransactionZScores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WHERE ABS(z_score) &gt; 2;</a:t>
            </a:r>
          </a:p>
          <a:p>
            <a:endParaRPr lang="en-I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7394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CC038-1A8E-6B0E-B725-F6490F696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009651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Task 5: Most Popular Payment Method by City</a:t>
            </a:r>
            <a:endParaRPr lang="en-IN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A0B58A-25C5-F7FF-E717-255F55941B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26" y="914400"/>
            <a:ext cx="6313081" cy="162868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070DC4-102A-CD2B-0BD4-220632BBAB7B}"/>
              </a:ext>
            </a:extLst>
          </p:cNvPr>
          <p:cNvSpPr txBox="1"/>
          <p:nvPr/>
        </p:nvSpPr>
        <p:spPr>
          <a:xfrm>
            <a:off x="6480663" y="998548"/>
            <a:ext cx="544910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SQL Query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WITH PaymentCounts AS (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SELECT city, payment, COUNT(*) AS payment_count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FROM walmart_sales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GROUP BY city, payment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RankedPayments AS (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SELECT city, payment, payment_count,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RANK() OVER (PARTITION BY city ORDER BY payment_count DESC) AS payment_rank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FROM PaymentCounts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city, payment AS most_popular_payment, payment_count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RankedPayments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WHERE payment_rank = 1;</a:t>
            </a:r>
          </a:p>
          <a:p>
            <a:endParaRPr lang="en-I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9746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989AF-35BD-7AAE-1C19-FE1F57448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26488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Task 6: Monthly Sales Distribution by Gender</a:t>
            </a:r>
            <a:endParaRPr lang="en-IN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D9995B-DF05-604E-0FDF-7F9838A40B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97" y="1057581"/>
            <a:ext cx="3798703" cy="222639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4BF350-20FA-3925-85EC-7172052E2B78}"/>
              </a:ext>
            </a:extLst>
          </p:cNvPr>
          <p:cNvSpPr txBox="1"/>
          <p:nvPr/>
        </p:nvSpPr>
        <p:spPr>
          <a:xfrm>
            <a:off x="5663381" y="1063239"/>
            <a:ext cx="6238222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SQL Query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 Step 1: Extract the month from the date and group by gender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DATE_FORMAT(date, '%Y-%m') AS sales_month,  -- Formats date as 'YYYY-MM'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gender,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ROUND(SUM(total), 2) AS total_sales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walmart_sales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GROUP BY sales_month, gender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ORDER BY sales_month, gender;</a:t>
            </a:r>
          </a:p>
          <a:p>
            <a:endParaRPr lang="en-I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8B19E0-71A4-6EC6-6FEA-6EBC0ABF02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124" y="3283974"/>
            <a:ext cx="5212897" cy="336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352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E5B86-2DA9-2ACF-F659-D6373DC52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943897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Task 7: Best Product Line by Customer Type</a:t>
            </a:r>
            <a:endParaRPr lang="en-IN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C1B9C4-4AA4-D1E9-D4BE-7707660992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26" y="835743"/>
            <a:ext cx="6655699" cy="1064912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D204BDF-45BD-FE50-2470-4BBC170C64F7}"/>
              </a:ext>
            </a:extLst>
          </p:cNvPr>
          <p:cNvSpPr txBox="1"/>
          <p:nvPr/>
        </p:nvSpPr>
        <p:spPr>
          <a:xfrm>
            <a:off x="6607277" y="835743"/>
            <a:ext cx="545909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SQL Query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WITH ProductPreference AS (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SELECT customer_type, product_line, SUM(quantity) AS total_units_sold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FROM walmart_sales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GROUP BY customer_type, product_line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RankedPreferences AS (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SELECT *, RANK() OVER (PARTITION BY customer_type ORDER BY total_units_sold DESC) AS rank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FROM ProductPreference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customer_type, product_line, total_units_sold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RankedPreferences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WHERE rank = 1;</a:t>
            </a:r>
          </a:p>
          <a:p>
            <a:endParaRPr lang="en-I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0093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D3F79-41B0-183F-4CB6-D1508CB90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04914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Task 8: Identifying Repeat Customers</a:t>
            </a:r>
            <a:endParaRPr lang="en-IN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0F0F73-B9D8-0428-8222-B4F7327627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981" y="804914"/>
            <a:ext cx="6439914" cy="358539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75A821-AE34-F6B0-483B-94D92DE0DD6A}"/>
              </a:ext>
            </a:extLst>
          </p:cNvPr>
          <p:cNvSpPr txBox="1"/>
          <p:nvPr/>
        </p:nvSpPr>
        <p:spPr>
          <a:xfrm>
            <a:off x="6794090" y="804914"/>
            <a:ext cx="5299587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SQL Query</a:t>
            </a:r>
            <a:endParaRPr lang="en-I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-- Step 1: Self-join to find purchase pairs within 30 days</a:t>
            </a:r>
          </a:p>
          <a:p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</a:p>
          <a:p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   a.customer_id,</a:t>
            </a:r>
          </a:p>
          <a:p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   a.date AS first_purchase,</a:t>
            </a:r>
          </a:p>
          <a:p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   b.date AS repeat_purchase,</a:t>
            </a:r>
          </a:p>
          <a:p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   DATEDIFF(b.date, a.date) AS days_between</a:t>
            </a:r>
          </a:p>
          <a:p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FROM walmart_sales a</a:t>
            </a:r>
          </a:p>
          <a:p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JOIN walmart_sales b</a:t>
            </a:r>
          </a:p>
          <a:p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   ON a.customer_id = b.customer_id</a:t>
            </a:r>
          </a:p>
          <a:p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  AND b.date &gt; a.date</a:t>
            </a:r>
          </a:p>
          <a:p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  AND DATEDIFF(b.date, a.date) &lt;= 30</a:t>
            </a:r>
          </a:p>
          <a:p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GROUP BY a.customer_id, a.date, b.date</a:t>
            </a:r>
          </a:p>
          <a:p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ORDER BY a.customer_id, a.date;</a:t>
            </a:r>
          </a:p>
          <a:p>
            <a:endParaRPr lang="en-I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1711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11A6A-1AB8-894D-9E5A-E29140BAC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6990"/>
            <a:ext cx="10432026" cy="1090048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Task 9: Finding Top 5 Customers by Sales Volume</a:t>
            </a:r>
            <a:endParaRPr lang="en-IN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3853B1-24E3-A468-0900-89CA19FF50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85" y="815013"/>
            <a:ext cx="4685406" cy="277376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E37CE6-3118-8802-77F6-AF52C00C68F9}"/>
              </a:ext>
            </a:extLst>
          </p:cNvPr>
          <p:cNvSpPr txBox="1"/>
          <p:nvPr/>
        </p:nvSpPr>
        <p:spPr>
          <a:xfrm>
            <a:off x="4764066" y="755343"/>
            <a:ext cx="7069393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SQL Query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 Step 1: Calculate total revenue per customer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customer_id,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ROUND(SUM(total), 2) AS total_revenue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walmart_sales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GROUP BY customer_id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ORDER BY total_revenue DESC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LIMIT 5;  -- Only top 5 customers</a:t>
            </a:r>
          </a:p>
          <a:p>
            <a:endParaRPr lang="en-I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7421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579BD-0B37-F6F4-DEF0-D6EE4EE13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646" y="18255"/>
            <a:ext cx="11049000" cy="1043629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Task 10: Analyzing Sales Trends by Day of the Week</a:t>
            </a:r>
            <a:endParaRPr lang="en-IN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9FFF9F-6606-CC79-A079-2A1764217F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763696"/>
            <a:ext cx="3997625" cy="321932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76D027-FC4B-343B-3D00-477C59CAB4F8}"/>
              </a:ext>
            </a:extLst>
          </p:cNvPr>
          <p:cNvSpPr txBox="1"/>
          <p:nvPr/>
        </p:nvSpPr>
        <p:spPr>
          <a:xfrm>
            <a:off x="4417966" y="1214402"/>
            <a:ext cx="6943221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SQL Query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 Step 1: Add weekday column using DAYNAME()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DAYNAME(date) AS day_of_week,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ROUND(SUM(total), 2) AS total_sales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walmart_sales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GROUP BY day_of_week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ORDER BY total_sales DESC;</a:t>
            </a:r>
          </a:p>
          <a:p>
            <a:endParaRPr lang="en-I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9632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CE1C8-5DB1-9FF8-3D8E-F02E3D6D1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1800" dirty="0"/>
              <a:t>Video link___</a:t>
            </a:r>
            <a:br>
              <a:rPr lang="en-IN" sz="1800" dirty="0"/>
            </a:br>
            <a:r>
              <a:rPr lang="en-IN" sz="1800" dirty="0">
                <a:hlinkClick r:id="rId2"/>
              </a:rPr>
              <a:t>https://drive.google.com/file/d/1hxjY5jN56Uj7oov6owDkUJT6Q8Ckc0PU/view?usp=sharing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037223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1239</Words>
  <Application>Microsoft Office PowerPoint</Application>
  <PresentationFormat>Widescreen</PresentationFormat>
  <Paragraphs>200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Office Theme</vt:lpstr>
      <vt:lpstr>Task 1: Identifying the Top Branch by Sales Growth Rate</vt:lpstr>
      <vt:lpstr>Task 2: Finding the Most Profitable Product Line for Each Branch</vt:lpstr>
      <vt:lpstr>Task 3: Analyzing Customer Segmentation Based on Spending</vt:lpstr>
      <vt:lpstr>Task 4: Detecting Anomalies in Sales Transactions</vt:lpstr>
      <vt:lpstr>Task 5: Most Popular Payment Method by City</vt:lpstr>
      <vt:lpstr>Task 6: Monthly Sales Distribution by Gender</vt:lpstr>
      <vt:lpstr>Task 7: Best Product Line by Customer Type</vt:lpstr>
      <vt:lpstr>Task 8: Identifying Repeat Customers</vt:lpstr>
      <vt:lpstr>Task 9: Finding Top 5 Customers by Sales Volume</vt:lpstr>
      <vt:lpstr>Task 10: Analyzing Sales Trends by Day of the Week</vt:lpstr>
      <vt:lpstr>Video link___ https://drive.google.com/file/d/1hxjY5jN56Uj7oov6owDkUJT6Q8Ckc0PU/view?usp=sharing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PRATYAY CHATTERJEE</dc:creator>
  <cp:lastModifiedBy>PRATYAY CHATTERJEE</cp:lastModifiedBy>
  <cp:revision>21</cp:revision>
  <dcterms:created xsi:type="dcterms:W3CDTF">2025-06-05T13:06:28Z</dcterms:created>
  <dcterms:modified xsi:type="dcterms:W3CDTF">2025-06-05T18:32:10Z</dcterms:modified>
</cp:coreProperties>
</file>